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спросят «Клоните Monere?» -&gt; Метод похож, но у Monere нет русского языка, нет партнёрств в СНГ, нет token-инсентива для дообучения. Мы играем не в Global, а сначала в KZ/СНГ, где их нет.
Если спросят «Sanguina добавили укол, значит камера не работает» -&gt; Для диагноза — да. Для скрининга — работает достаточно, чтобы направить человека на анализ. Это разные задачи.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спросят «У вас нет клинической валидации» -&gt; Знаем, это приоритет №1 на ближайший квартал, а не UI. Именно поэтому модель калибровки на реальных лаб-данных встроена в продукт с первого дня.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спросят «а зачем вообще блокчейн, нельзя обычной БД?» -&gt; Обычная БД не даёт пользователю верифицируемого владения и не позволяет экономически осмысленно платить за микровклад в датасет. Solana используется там, где нужны эти два свойства, а не для хранения самих изображений — они в обычном сторедже.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943600" cy="5943600"/>
          </a:xfrm>
          <a:prstGeom prst="ellipse">
            <a:avLst/>
          </a:prstGeom>
          <a:solidFill>
            <a:srgbClr val="0F323D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097280"/>
            <a:ext cx="3108960" cy="3108960"/>
          </a:xfrm>
          <a:prstGeom prst="ellipse">
            <a:avLst/>
          </a:prstGeom>
          <a:solidFill>
            <a:srgbClr val="123A4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85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3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SOLANA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Anemia Scan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8778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Anemia Scan по фото нижнего века с помощью ИИ за секунды оценивает риск анемии — без анализа крови. Это скрининг, а не диагноз: мы ведём беременных, матерей и жителей удалённых районов до врача, а не заменяем лабораторию. Solana даёт пользователю верифицируемое владение историей сканов и вознаграждает тех, кто помогает дообучать модель реальными лабораторными результатами.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287000" y="5669280"/>
            <a:ext cx="640080" cy="640080"/>
          </a:xfrm>
          <a:prstGeom prst="ellipse">
            <a:avLst/>
          </a:prstGeom>
          <a:solidFill>
            <a:srgbClr val="00A9B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7020" y="58293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6172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·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8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 каждой третьей женщины — анемия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246120" cy="1463040"/>
          </a:xfrm>
          <a:prstGeom prst="roundRect">
            <a:avLst>
              <a:gd name="adj" fmla="val 7500"/>
            </a:avLst>
          </a:prstGeom>
          <a:solidFill>
            <a:srgbClr val="F1F7F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1051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70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68680" y="245059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женщин репродуктивного возраста (ВОЗ)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60520" y="1691640"/>
            <a:ext cx="3246120" cy="1463040"/>
          </a:xfrm>
          <a:prstGeom prst="roundRect">
            <a:avLst>
              <a:gd name="adj" fmla="val 7500"/>
            </a:avLst>
          </a:prstGeom>
          <a:solidFill>
            <a:srgbClr val="F1F7F8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0" y="181051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70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 40%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389120" y="245059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детей до 5 лет (ВОЗ)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10881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Классическая диагностика требует забора крови, лаборатории и очного визита — дорого, больно, недоступно в регионах.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Регулярный скрининг почти невозможен — анемию обнаруживают уже с осложнениями.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Наша аудитория: беременные, матери с маленькими детьми, жители удалённых районов — должны узнавать риск дома, а не в больнице.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5257800"/>
            <a:ext cx="10881360" cy="777240"/>
          </a:xfrm>
          <a:prstGeom prst="roundRect">
            <a:avLst>
              <a:gd name="adj" fmla="val 14118"/>
            </a:avLst>
          </a:prstGeom>
          <a:solidFill>
            <a:srgbClr val="0A253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525780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Скрининг ≠ диагноз. </a:t>
            </a:r>
            <a:pPr indent="0" marL="0">
              <a:buNone/>
            </a:pPr>
            <a:r>
              <a:rPr lang="en-US" sz="1350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— красная лампочка, которая направляет к врачу, а не замена лаборатории.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ВОЗ (WHO)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Anemia Scan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8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Скрининг анемии без иглы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Anemia Scan фотографирует нижнее веко камерой телефона (или снимок из галереи), отправляет изображение на собственную ML-модель и сразу показывает оценку риска анемии.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76656" y="3099816"/>
            <a:ext cx="566928" cy="566928"/>
          </a:xfrm>
          <a:prstGeom prst="ellipse">
            <a:avLst/>
          </a:prstGeom>
          <a:solidFill>
            <a:srgbClr val="00A9B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19" y="3235879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3063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Любой смартфон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17320" y="3383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 или фото из галереи — без доп. устройств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76656" y="4059936"/>
            <a:ext cx="566928" cy="566928"/>
          </a:xfrm>
          <a:prstGeom prst="ellipse">
            <a:avLst/>
          </a:prstGeom>
          <a:solidFill>
            <a:srgbClr val="00A9B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19" y="4195999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4023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за секунды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417320" y="4343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нужно ехать в лабораторию и ждать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76656" y="5020056"/>
            <a:ext cx="566928" cy="566928"/>
          </a:xfrm>
          <a:prstGeom prst="ellipse">
            <a:avLst/>
          </a:prstGeom>
          <a:solidFill>
            <a:srgbClr val="00A9B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19" y="5156119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983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только диагноз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417320" y="5303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риске — направляет к врачу и в лабораторию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818120" y="1234440"/>
            <a:ext cx="3108960" cy="5212080"/>
          </a:xfrm>
          <a:prstGeom prst="roundRect">
            <a:avLst>
              <a:gd name="adj" fmla="val 9412"/>
            </a:avLst>
          </a:prstGeom>
          <a:solidFill>
            <a:srgbClr val="0A2530"/>
          </a:solidFill>
          <a:ln/>
          <a:effectLst>
            <a:outerShdw sx="100000" sy="100000" kx="0" ky="0" algn="bl" rotWithShape="0" blurRad="152400" dist="50800" dir="5400000">
              <a:srgbClr val="132832">
                <a:alpha val="2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946136" y="1362456"/>
            <a:ext cx="2852928" cy="4956048"/>
          </a:xfrm>
          <a:prstGeom prst="roundRect">
            <a:avLst>
              <a:gd name="adj" fmla="val 7051"/>
            </a:avLst>
          </a:prstGeom>
          <a:solidFill>
            <a:srgbClr val="0F323D"/>
          </a:solidFill>
          <a:ln/>
        </p:spPr>
      </p:sp>
      <p:sp>
        <p:nvSpPr>
          <p:cNvPr id="19" name="Shape 14"/>
          <p:cNvSpPr/>
          <p:nvPr/>
        </p:nvSpPr>
        <p:spPr>
          <a:xfrm>
            <a:off x="8595360" y="2414016"/>
            <a:ext cx="256032" cy="41148"/>
          </a:xfrm>
          <a:prstGeom prst="rect">
            <a:avLst/>
          </a:prstGeom>
          <a:solidFill>
            <a:srgbClr val="33E4DB"/>
          </a:solidFill>
          <a:ln/>
        </p:spPr>
      </p:sp>
      <p:sp>
        <p:nvSpPr>
          <p:cNvPr id="20" name="Shape 15"/>
          <p:cNvSpPr/>
          <p:nvPr/>
        </p:nvSpPr>
        <p:spPr>
          <a:xfrm>
            <a:off x="8595360" y="2414016"/>
            <a:ext cx="41148" cy="256032"/>
          </a:xfrm>
          <a:prstGeom prst="rect">
            <a:avLst/>
          </a:prstGeom>
          <a:solidFill>
            <a:srgbClr val="33E4DB"/>
          </a:solidFill>
          <a:ln/>
        </p:spPr>
      </p:sp>
      <p:sp>
        <p:nvSpPr>
          <p:cNvPr id="21" name="Shape 16"/>
          <p:cNvSpPr/>
          <p:nvPr/>
        </p:nvSpPr>
        <p:spPr>
          <a:xfrm>
            <a:off x="9893808" y="2414016"/>
            <a:ext cx="256032" cy="41148"/>
          </a:xfrm>
          <a:prstGeom prst="rect">
            <a:avLst/>
          </a:prstGeom>
          <a:solidFill>
            <a:srgbClr val="33E4DB"/>
          </a:solidFill>
          <a:ln/>
        </p:spPr>
      </p:sp>
      <p:sp>
        <p:nvSpPr>
          <p:cNvPr id="22" name="Shape 17"/>
          <p:cNvSpPr/>
          <p:nvPr/>
        </p:nvSpPr>
        <p:spPr>
          <a:xfrm>
            <a:off x="9893808" y="2414016"/>
            <a:ext cx="41148" cy="256032"/>
          </a:xfrm>
          <a:prstGeom prst="rect">
            <a:avLst/>
          </a:prstGeom>
          <a:solidFill>
            <a:srgbClr val="33E4DB"/>
          </a:solidFill>
          <a:ln/>
        </p:spPr>
      </p:sp>
      <p:sp>
        <p:nvSpPr>
          <p:cNvPr id="23" name="Shape 18"/>
          <p:cNvSpPr/>
          <p:nvPr/>
        </p:nvSpPr>
        <p:spPr>
          <a:xfrm>
            <a:off x="8595360" y="3712464"/>
            <a:ext cx="256032" cy="41148"/>
          </a:xfrm>
          <a:prstGeom prst="rect">
            <a:avLst/>
          </a:prstGeom>
          <a:solidFill>
            <a:srgbClr val="33E4DB"/>
          </a:solidFill>
          <a:ln/>
        </p:spPr>
      </p:sp>
      <p:sp>
        <p:nvSpPr>
          <p:cNvPr id="24" name="Shape 19"/>
          <p:cNvSpPr/>
          <p:nvPr/>
        </p:nvSpPr>
        <p:spPr>
          <a:xfrm>
            <a:off x="8595360" y="3712464"/>
            <a:ext cx="41148" cy="256032"/>
          </a:xfrm>
          <a:prstGeom prst="rect">
            <a:avLst/>
          </a:prstGeom>
          <a:solidFill>
            <a:srgbClr val="33E4DB"/>
          </a:solidFill>
          <a:ln/>
        </p:spPr>
      </p:sp>
      <p:sp>
        <p:nvSpPr>
          <p:cNvPr id="25" name="Shape 20"/>
          <p:cNvSpPr/>
          <p:nvPr/>
        </p:nvSpPr>
        <p:spPr>
          <a:xfrm>
            <a:off x="9893808" y="3712464"/>
            <a:ext cx="256032" cy="41148"/>
          </a:xfrm>
          <a:prstGeom prst="rect">
            <a:avLst/>
          </a:prstGeom>
          <a:solidFill>
            <a:srgbClr val="33E4DB"/>
          </a:solidFill>
          <a:ln/>
        </p:spPr>
      </p:sp>
      <p:sp>
        <p:nvSpPr>
          <p:cNvPr id="26" name="Shape 21"/>
          <p:cNvSpPr/>
          <p:nvPr/>
        </p:nvSpPr>
        <p:spPr>
          <a:xfrm>
            <a:off x="9893808" y="3712464"/>
            <a:ext cx="41148" cy="256032"/>
          </a:xfrm>
          <a:prstGeom prst="rect">
            <a:avLst/>
          </a:prstGeom>
          <a:solidFill>
            <a:srgbClr val="33E4DB"/>
          </a:solidFill>
          <a:ln/>
        </p:spPr>
      </p:sp>
      <p:sp>
        <p:nvSpPr>
          <p:cNvPr id="27" name="Shape 22"/>
          <p:cNvSpPr/>
          <p:nvPr/>
        </p:nvSpPr>
        <p:spPr>
          <a:xfrm>
            <a:off x="9089136" y="2907792"/>
            <a:ext cx="566928" cy="566928"/>
          </a:xfrm>
          <a:prstGeom prst="ellipse">
            <a:avLst/>
          </a:prstGeom>
          <a:solidFill>
            <a:srgbClr val="123A47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6695" y="3035351"/>
            <a:ext cx="311810" cy="31181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129016" y="4197096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Наведите камеру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нижнее веко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9006840" y="5358384"/>
            <a:ext cx="731520" cy="731520"/>
          </a:xfrm>
          <a:prstGeom prst="ellipse">
            <a:avLst/>
          </a:prstGeom>
          <a:solidFill>
            <a:srgbClr val="00A9BE"/>
          </a:solidFill>
          <a:ln w="19050">
            <a:solidFill>
              <a:srgbClr val="33E4DB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9116568" y="546811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26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Anemia Scan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РАБОТАЕТ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8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фото до рекомендации — 4 шага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42032" cy="3794760"/>
          </a:xfrm>
          <a:prstGeom prst="roundRect">
            <a:avLst>
              <a:gd name="adj" fmla="val 5036"/>
            </a:avLst>
          </a:prstGeom>
          <a:solidFill>
            <a:srgbClr val="F1F7F8"/>
          </a:solidFill>
          <a:ln/>
        </p:spPr>
      </p:sp>
      <p:sp>
        <p:nvSpPr>
          <p:cNvPr id="5" name="Shape 3"/>
          <p:cNvSpPr/>
          <p:nvPr/>
        </p:nvSpPr>
        <p:spPr>
          <a:xfrm>
            <a:off x="1499616" y="2011680"/>
            <a:ext cx="822960" cy="822960"/>
          </a:xfrm>
          <a:prstGeom prst="ellipse">
            <a:avLst/>
          </a:prstGeom>
          <a:solidFill>
            <a:srgbClr val="00A9B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7126" y="220919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1752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Снимок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1248" y="3520440"/>
            <a:ext cx="21396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 или фото из галереи — наведите на нижнее веко.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0" y="32461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438144" y="1737360"/>
            <a:ext cx="2542032" cy="3794760"/>
          </a:xfrm>
          <a:prstGeom prst="roundRect">
            <a:avLst>
              <a:gd name="adj" fmla="val 5036"/>
            </a:avLst>
          </a:prstGeom>
          <a:solidFill>
            <a:srgbClr val="F1F7F8"/>
          </a:solidFill>
          <a:ln/>
        </p:spPr>
      </p:sp>
      <p:sp>
        <p:nvSpPr>
          <p:cNvPr id="11" name="Shape 8"/>
          <p:cNvSpPr/>
          <p:nvPr/>
        </p:nvSpPr>
        <p:spPr>
          <a:xfrm>
            <a:off x="4297680" y="2011680"/>
            <a:ext cx="822960" cy="822960"/>
          </a:xfrm>
          <a:prstGeom prst="ellipse">
            <a:avLst/>
          </a:prstGeom>
          <a:solidFill>
            <a:srgbClr val="00A9B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190" y="220919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301752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Анализ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39312" y="3520440"/>
            <a:ext cx="21396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ML-модель на нашем сервере оценивает цвет конъюнктивы.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998464" y="32461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236208" y="1737360"/>
            <a:ext cx="2542032" cy="3794760"/>
          </a:xfrm>
          <a:prstGeom prst="roundRect">
            <a:avLst>
              <a:gd name="adj" fmla="val 5036"/>
            </a:avLst>
          </a:prstGeom>
          <a:solidFill>
            <a:srgbClr val="F1F7F8"/>
          </a:solidFill>
          <a:ln/>
        </p:spPr>
      </p:sp>
      <p:sp>
        <p:nvSpPr>
          <p:cNvPr id="17" name="Shape 13"/>
          <p:cNvSpPr/>
          <p:nvPr/>
        </p:nvSpPr>
        <p:spPr>
          <a:xfrm>
            <a:off x="7095744" y="2011680"/>
            <a:ext cx="822960" cy="822960"/>
          </a:xfrm>
          <a:prstGeom prst="ellipse">
            <a:avLst/>
          </a:prstGeom>
          <a:solidFill>
            <a:srgbClr val="00A9B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3254" y="2209190"/>
            <a:ext cx="427939" cy="42793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19088" y="301752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Результат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437376" y="3520440"/>
            <a:ext cx="21396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риска анемии и рекомендация в течение секунд.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796528" y="32461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9034272" y="1737360"/>
            <a:ext cx="2542032" cy="3794760"/>
          </a:xfrm>
          <a:prstGeom prst="roundRect">
            <a:avLst>
              <a:gd name="adj" fmla="val 5036"/>
            </a:avLst>
          </a:prstGeom>
          <a:solidFill>
            <a:srgbClr val="F1F7F8"/>
          </a:solidFill>
          <a:ln/>
        </p:spPr>
      </p:sp>
      <p:sp>
        <p:nvSpPr>
          <p:cNvPr id="23" name="Shape 18"/>
          <p:cNvSpPr/>
          <p:nvPr/>
        </p:nvSpPr>
        <p:spPr>
          <a:xfrm>
            <a:off x="9893808" y="2011680"/>
            <a:ext cx="822960" cy="822960"/>
          </a:xfrm>
          <a:prstGeom prst="ellipse">
            <a:avLst/>
          </a:prstGeom>
          <a:solidFill>
            <a:srgbClr val="00A9B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1318" y="2209190"/>
            <a:ext cx="427939" cy="42793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17152" y="301752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Дальше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235440" y="3520440"/>
            <a:ext cx="21396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риске — направление к врачу; загрузка реального анализа даёт Solana-награду.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Anemia Scan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АНАЛИЗ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8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Ниша занята, но без нашего фокуса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3931920"/>
        </p:xfrm>
        <a:graphic>
          <a:graphicData uri="http://schemas.openxmlformats.org/drawingml/2006/table">
            <a:tbl>
              <a:tblPr/>
              <a:tblGrid>
                <a:gridCol w="2377440"/>
                <a:gridCol w="2286000"/>
                <a:gridCol w="2926080"/>
                <a:gridCol w="3291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Продукт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Подход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Сильная сторона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Слабое место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7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8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Monere (США)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8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Фото века + ИИ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8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Публикация в PNAS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8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 русского языка, нет token-инсентива для дообучения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8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Sanguina 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8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AnemoCheck (США)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8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Фото ногтя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8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($2.8M раунд)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8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FDA-допуск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8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домашнего набора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8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Клинический продукт требует укола пальца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8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AnemoScan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8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(Бангладеш)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8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Фото глаза + ИИ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8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 же идея, уже в сторах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8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1.2★, жалобы на нестабильные результаты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0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Anemia Scan (мы)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8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Фото века + ИИ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8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Фокус на СНГ 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8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Solana-калибровка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8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Точность модели ещё не валидирована клинически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Косвенные альтернативы: </a:t>
            </a:r>
            <a:pPr indent="0" marL="0">
              <a:buNone/>
            </a:pPr>
            <a:r>
              <a:rPr lang="en-US" sz="1050" i="1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домашние гемоглобинометры типа HemoCue (точные, но инвазивны и нужен прибор) · поход в поликлинику (золотой стандарт, но небыстро и нерегулярно).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Anemia Scan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ДИФФЕРЕНЦИАЦИЯ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8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клон Monere на глобальный рынок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87752" cy="3108960"/>
          </a:xfrm>
          <a:prstGeom prst="roundRect">
            <a:avLst>
              <a:gd name="adj" fmla="val 4240"/>
            </a:avLst>
          </a:prstGeom>
          <a:solidFill>
            <a:srgbClr val="F1F7F8"/>
          </a:solidFill>
          <a:ln/>
        </p:spPr>
      </p:sp>
      <p:sp>
        <p:nvSpPr>
          <p:cNvPr id="5" name="Shape 3"/>
          <p:cNvSpPr/>
          <p:nvPr/>
        </p:nvSpPr>
        <p:spPr>
          <a:xfrm>
            <a:off x="905256" y="1956816"/>
            <a:ext cx="658368" cy="658368"/>
          </a:xfrm>
          <a:prstGeom prst="ellipse">
            <a:avLst/>
          </a:prstGeom>
          <a:solidFill>
            <a:srgbClr val="00A9B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1214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43200"/>
            <a:ext cx="2221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Локализация под СНГ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3291840"/>
            <a:ext cx="22219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у одного конкурента нет русского языка, интеграций с местной медициной и понимания регуляторики (в KZ медизделия регистрируются отдельно).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10712" y="1783080"/>
            <a:ext cx="2587752" cy="3108960"/>
          </a:xfrm>
          <a:prstGeom prst="roundRect">
            <a:avLst>
              <a:gd name="adj" fmla="val 4240"/>
            </a:avLst>
          </a:prstGeom>
          <a:solidFill>
            <a:srgbClr val="F1F7F8"/>
          </a:solidFill>
          <a:ln/>
        </p:spPr>
      </p:sp>
      <p:sp>
        <p:nvSpPr>
          <p:cNvPr id="10" name="Shape 7"/>
          <p:cNvSpPr/>
          <p:nvPr/>
        </p:nvSpPr>
        <p:spPr>
          <a:xfrm>
            <a:off x="3675888" y="1956816"/>
            <a:ext cx="658368" cy="658368"/>
          </a:xfrm>
          <a:prstGeom prst="ellipse">
            <a:avLst/>
          </a:prstGeom>
          <a:solidFill>
            <a:srgbClr val="00A9B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1214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2743200"/>
            <a:ext cx="2221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Партнёрства с клиниками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93592" y="3291840"/>
            <a:ext cx="22219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B2C-приложение в вакууме, а инструмент в реальном пути пациента: женские консультации, педиатрия.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81344" y="1783080"/>
            <a:ext cx="2587752" cy="3108960"/>
          </a:xfrm>
          <a:prstGeom prst="roundRect">
            <a:avLst>
              <a:gd name="adj" fmla="val 4240"/>
            </a:avLst>
          </a:prstGeom>
          <a:solidFill>
            <a:srgbClr val="F1F7F8"/>
          </a:solidFill>
          <a:ln/>
        </p:spPr>
      </p:sp>
      <p:sp>
        <p:nvSpPr>
          <p:cNvPr id="15" name="Shape 11"/>
          <p:cNvSpPr/>
          <p:nvPr/>
        </p:nvSpPr>
        <p:spPr>
          <a:xfrm>
            <a:off x="6446520" y="1956816"/>
            <a:ext cx="658368" cy="658368"/>
          </a:xfrm>
          <a:prstGeom prst="ellipse">
            <a:avLst/>
          </a:prstGeom>
          <a:solidFill>
            <a:srgbClr val="00A9B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212140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2743200"/>
            <a:ext cx="2221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Калибровочная петля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64224" y="3291840"/>
            <a:ext cx="22219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 с лаб.анализом возвращают нам «правду» — модель дообучается на локальной популяции. Это ровно то, из-за чего у конкурентов sensitivity лёгкой/умеренной анемии всего 25–58%.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951976" y="1783080"/>
            <a:ext cx="2587752" cy="3108960"/>
          </a:xfrm>
          <a:prstGeom prst="roundRect">
            <a:avLst>
              <a:gd name="adj" fmla="val 4240"/>
            </a:avLst>
          </a:prstGeom>
          <a:solidFill>
            <a:srgbClr val="F1F7F8"/>
          </a:solidFill>
          <a:ln/>
        </p:spPr>
      </p:sp>
      <p:sp>
        <p:nvSpPr>
          <p:cNvPr id="20" name="Shape 15"/>
          <p:cNvSpPr/>
          <p:nvPr/>
        </p:nvSpPr>
        <p:spPr>
          <a:xfrm>
            <a:off x="9217152" y="1956816"/>
            <a:ext cx="658368" cy="658368"/>
          </a:xfrm>
          <a:prstGeom prst="ellipse">
            <a:avLst/>
          </a:prstGeom>
          <a:solidFill>
            <a:srgbClr val="00A9B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1744" y="212140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34856" y="2743200"/>
            <a:ext cx="2221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Честный скрининг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134856" y="3291840"/>
            <a:ext cx="22219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обещаем диагноз с телефона — не повторяем ошибку AnemoScan.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5074920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FDF3E9"/>
          </a:solidFill>
          <a:ln/>
        </p:spPr>
      </p:sp>
      <p:sp>
        <p:nvSpPr>
          <p:cNvPr id="25" name="Text 19"/>
          <p:cNvSpPr/>
          <p:nvPr/>
        </p:nvSpPr>
        <p:spPr>
          <a:xfrm>
            <a:off x="914400" y="519379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Честно, если спросят: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нас пока нет опубликованных клинических метрик модели — это следующий приоритет, а не полировка UI.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Anemia Scan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ЗДЕСЬ SOLANA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8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функции, не блокчейн ради блокчейна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0A253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10512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33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Главное: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пользователь, загрузивший к скану реальный результат анализа крови из лаборатории, получает SOL/USDC-награду. Так мы дёшево собираем размеченный датасет для дообучения модели — вместо $10–20 за строку в клиническом исследовании.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15468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1F7F8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3291840"/>
            <a:ext cx="731520" cy="731520"/>
          </a:xfrm>
          <a:prstGeom prst="ellipse">
            <a:avLst/>
          </a:prstGeom>
          <a:solidFill>
            <a:srgbClr val="9945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4747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41605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Владение данными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46634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Верифицируемое право пациента на историю сканов и явное согласие на использование — требование, всё чаще актуальное и в KZ.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407408" y="315468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1F7F8"/>
          </a:solidFill>
          <a:ln/>
        </p:spPr>
      </p:sp>
      <p:sp>
        <p:nvSpPr>
          <p:cNvPr id="12" name="Shape 9"/>
          <p:cNvSpPr/>
          <p:nvPr/>
        </p:nvSpPr>
        <p:spPr>
          <a:xfrm>
            <a:off x="4727448" y="3291840"/>
            <a:ext cx="731520" cy="731520"/>
          </a:xfrm>
          <a:prstGeom prst="ellipse">
            <a:avLst/>
          </a:prstGeom>
          <a:solidFill>
            <a:srgbClr val="14F19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34747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81728" y="41605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Токен-награда за калибровку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681728" y="46634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Дешёвый способ собрать размеченные лабораторией данные для дообучения модели.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74736" y="315468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1F7F8"/>
          </a:solidFill>
          <a:ln/>
        </p:spPr>
      </p:sp>
      <p:sp>
        <p:nvSpPr>
          <p:cNvPr id="17" name="Shape 13"/>
          <p:cNvSpPr/>
          <p:nvPr/>
        </p:nvSpPr>
        <p:spPr>
          <a:xfrm>
            <a:off x="8494776" y="3291840"/>
            <a:ext cx="731520" cy="731520"/>
          </a:xfrm>
          <a:prstGeom prst="ellipse">
            <a:avLst/>
          </a:prstGeom>
          <a:solidFill>
            <a:srgbClr val="9945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656" y="347472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49056" y="41605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Аудит-лог для регулятора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449056" y="46634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Неизменяемый лог «скан → предсказание → факт. анализ» — база для клинической валидации и разговора с клиниками-партнёрами.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40080" y="60350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Solana, а не Ethereum/Polygon: комиссии и скорость — при целевой аудитории (женщины в СНГ, регионы) $1 за транзакцию убивает модель, доли цента — нет.  ·  Источник: Solana Compass, 2026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Anemia Scan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8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Дистрибуция через клиники, не через App Store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246120" cy="2423160"/>
          </a:xfrm>
          <a:prstGeom prst="roundRect">
            <a:avLst>
              <a:gd name="adj" fmla="val 5283"/>
            </a:avLst>
          </a:prstGeom>
          <a:solidFill>
            <a:srgbClr val="F1F7F8"/>
          </a:solidFill>
          <a:ln/>
        </p:spPr>
      </p:sp>
      <p:sp>
        <p:nvSpPr>
          <p:cNvPr id="5" name="Shape 3"/>
          <p:cNvSpPr/>
          <p:nvPr/>
        </p:nvSpPr>
        <p:spPr>
          <a:xfrm>
            <a:off x="891540" y="2080260"/>
            <a:ext cx="685800" cy="685800"/>
          </a:xfrm>
          <a:prstGeom prst="ellipse">
            <a:avLst/>
          </a:prstGeom>
          <a:solidFill>
            <a:srgbClr val="00A9B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" y="224485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88036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Бесплатный скрининг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1248" y="3611880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входа: женские консультации и педиатрия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904488" y="2606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270248" y="1874520"/>
            <a:ext cx="3246120" cy="2423160"/>
          </a:xfrm>
          <a:prstGeom prst="roundRect">
            <a:avLst>
              <a:gd name="adj" fmla="val 5283"/>
            </a:avLst>
          </a:prstGeom>
          <a:solidFill>
            <a:srgbClr val="F1F7F8"/>
          </a:solidFill>
          <a:ln/>
        </p:spPr>
      </p:sp>
      <p:sp>
        <p:nvSpPr>
          <p:cNvPr id="11" name="Shape 8"/>
          <p:cNvSpPr/>
          <p:nvPr/>
        </p:nvSpPr>
        <p:spPr>
          <a:xfrm>
            <a:off x="4521708" y="2080260"/>
            <a:ext cx="685800" cy="685800"/>
          </a:xfrm>
          <a:prstGeom prst="ellipse">
            <a:avLst/>
          </a:prstGeom>
          <a:solidFill>
            <a:srgbClr val="00A9B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224485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71416" y="288036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Партнёрства с клиниками и роддомами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471416" y="3611880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Встроено в реальный путь пациента — не отдельное B2C-приложение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534656" y="2606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7900416" y="1874520"/>
            <a:ext cx="3246120" cy="2423160"/>
          </a:xfrm>
          <a:prstGeom prst="roundRect">
            <a:avLst>
              <a:gd name="adj" fmla="val 5283"/>
            </a:avLst>
          </a:prstGeom>
          <a:solidFill>
            <a:srgbClr val="F1F7F8"/>
          </a:solidFill>
          <a:ln/>
        </p:spPr>
      </p:sp>
      <p:sp>
        <p:nvSpPr>
          <p:cNvPr id="17" name="Shape 13"/>
          <p:cNvSpPr/>
          <p:nvPr/>
        </p:nvSpPr>
        <p:spPr>
          <a:xfrm>
            <a:off x="8151876" y="2080260"/>
            <a:ext cx="685800" cy="685800"/>
          </a:xfrm>
          <a:prstGeom prst="ellipse">
            <a:avLst/>
          </a:prstGeom>
          <a:solidFill>
            <a:srgbClr val="00A9B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6468" y="2244852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01584" y="288036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Калибровочная петля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101584" y="3611880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Лаб.анализ рядом со сканом → Solana-награда → точнее модель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40080" y="4663440"/>
            <a:ext cx="10881360" cy="1097280"/>
          </a:xfrm>
          <a:prstGeom prst="roundRect">
            <a:avLst>
              <a:gd name="adj" fmla="val 10000"/>
            </a:avLst>
          </a:prstGeom>
          <a:solidFill>
            <a:srgbClr val="0A2530"/>
          </a:solidFill>
          <a:ln/>
        </p:spPr>
      </p:sp>
      <p:sp>
        <p:nvSpPr>
          <p:cNvPr id="22" name="Shape 17"/>
          <p:cNvSpPr/>
          <p:nvPr/>
        </p:nvSpPr>
        <p:spPr>
          <a:xfrm>
            <a:off x="1088136" y="4928616"/>
            <a:ext cx="566928" cy="566928"/>
          </a:xfrm>
          <a:prstGeom prst="ellipse">
            <a:avLst/>
          </a:prstGeom>
          <a:solidFill>
            <a:srgbClr val="00A9B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199" y="5064679"/>
            <a:ext cx="294803" cy="29480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828800" y="480060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3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Монетизация: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B2B-лицензирование клиникам / комиссия за интеграцию — в проработке, не финализирована. Сейчас приоритет — калибровочные данные и партнёрства, а не revenue.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Anemia Scan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8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Масштаб проблемы — и честная граница оценки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2468880"/>
          </a:xfrm>
          <a:prstGeom prst="roundRect">
            <a:avLst>
              <a:gd name="adj" fmla="val 5185"/>
            </a:avLst>
          </a:prstGeom>
          <a:solidFill>
            <a:srgbClr val="F1F7F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0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~30% / до 40%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женщин репродуктивного возраста / детей до 5 лет — с анемией (ВОЗ)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основной сегмент: беременные, матери с маленькими детьми, жители удалённых районов.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349240" cy="2468880"/>
          </a:xfrm>
          <a:prstGeom prst="roundRect">
            <a:avLst>
              <a:gd name="adj" fmla="val 5185"/>
            </a:avLst>
          </a:prstGeom>
          <a:solidFill>
            <a:srgbClr val="F1F7F8"/>
          </a:solidFill>
          <a:ln/>
        </p:spPr>
      </p:sp>
      <p:sp>
        <p:nvSpPr>
          <p:cNvPr id="9" name="Shape 7"/>
          <p:cNvSpPr/>
          <p:nvPr/>
        </p:nvSpPr>
        <p:spPr>
          <a:xfrm>
            <a:off x="6574536" y="2093976"/>
            <a:ext cx="658368" cy="658368"/>
          </a:xfrm>
          <a:prstGeom prst="ellipse">
            <a:avLst/>
          </a:prstGeom>
          <a:solidFill>
            <a:srgbClr val="00A9B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9128" y="225856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52360" y="2057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выхода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452360" y="2423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Казахстан → Центральная Азия → СНГ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46520" y="33375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Регион, не покрытый ни одним прямым конкурентом локально.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" y="443484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FDF3E9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4590288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top-down оценка масштаба проблемы в мире, а не подтверждение спроса на именно наш продукт в регионе. Прямая проверка с реальными пользователями (клиники, интервью) — следующий шаг, не пройденный.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4008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ВОЗ (WHO)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Anemia Scan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И ДОРОЖНАЯ КАРТА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8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уже готово, что дальше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3246120"/>
          </a:xfrm>
          <a:prstGeom prst="roundRect">
            <a:avLst>
              <a:gd name="adj" fmla="val 3944"/>
            </a:avLst>
          </a:prstGeom>
          <a:solidFill>
            <a:srgbClr val="F1F7F8"/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" y="2048256"/>
            <a:ext cx="566928" cy="566928"/>
          </a:xfrm>
          <a:prstGeom prst="ellipse">
            <a:avLst/>
          </a:prstGeom>
          <a:solidFill>
            <a:srgbClr val="00A9B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199" y="2184319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57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 сейчас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2788920"/>
            <a:ext cx="4617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Мобильное приложение (Expo / React Native)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Авторизация, регистрация с подтверждением email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Сканирование камерой и загрузка фото из галереи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с ML-предсказанием (api-anemiascan.ru)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737360"/>
            <a:ext cx="5349240" cy="3246120"/>
          </a:xfrm>
          <a:prstGeom prst="roundRect">
            <a:avLst>
              <a:gd name="adj" fmla="val 3944"/>
            </a:avLst>
          </a:prstGeom>
          <a:solidFill>
            <a:srgbClr val="F1F7F8"/>
          </a:solidFill>
          <a:ln/>
        </p:spPr>
      </p:sp>
      <p:sp>
        <p:nvSpPr>
          <p:cNvPr id="10" name="Shape 7"/>
          <p:cNvSpPr/>
          <p:nvPr/>
        </p:nvSpPr>
        <p:spPr>
          <a:xfrm>
            <a:off x="6620256" y="2048256"/>
            <a:ext cx="566928" cy="566928"/>
          </a:xfrm>
          <a:prstGeom prst="ellipse">
            <a:avLst/>
          </a:prstGeom>
          <a:solidFill>
            <a:srgbClr val="00A9B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319" y="2184319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057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Следующие 30–60–90 дней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46520" y="2788920"/>
            <a:ext cx="4937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дн.: Solana-программа владения данными и наград (Anchor) на devnet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дн.: клиническая валидация модели против лабораторных анализов гемоглобина — приоритет №1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дн.: пилот с 1 клиникой/роддомом в Казахстане, embedded-wallet UX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5166360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FDF3E9"/>
          </a:solidFill>
          <a:ln/>
        </p:spPr>
      </p:sp>
      <p:sp>
        <p:nvSpPr>
          <p:cNvPr id="15" name="Text 11"/>
          <p:cNvSpPr/>
          <p:nvPr/>
        </p:nvSpPr>
        <p:spPr>
          <a:xfrm>
            <a:off x="914400" y="528523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модели пока не проверена на лабораторных данных — это следующий шаг, не готовый результат.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Anemia Scan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200400"/>
            <a:ext cx="5943600" cy="5943600"/>
          </a:xfrm>
          <a:prstGeom prst="ellipse">
            <a:avLst/>
          </a:prstGeom>
          <a:solidFill>
            <a:srgbClr val="0F32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3E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НАМ НУЖНО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Поможем довести Solana-калибровку до devnet-демо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8096" y="2478024"/>
            <a:ext cx="566928" cy="566928"/>
          </a:xfrm>
          <a:prstGeom prst="ellipse">
            <a:avLst/>
          </a:prstGeom>
          <a:solidFill>
            <a:srgbClr val="00A9B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" y="2619756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4688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Менторство по Solana: consent и токен-инсентивы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08760" y="279806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решение было безопасным и юридически чистым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68096" y="3392424"/>
            <a:ext cx="566928" cy="566928"/>
          </a:xfrm>
          <a:prstGeom prst="ellipse">
            <a:avLst/>
          </a:prstGeom>
          <a:solidFill>
            <a:srgbClr val="00A9B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" y="3534156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33832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Интро к 1 клинике или роддому для пилота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508760" y="371246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Казахстане или Центральной Азии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68096" y="4306824"/>
            <a:ext cx="566928" cy="566928"/>
          </a:xfrm>
          <a:prstGeom prst="ellipse">
            <a:avLst/>
          </a:prstGeom>
          <a:solidFill>
            <a:srgbClr val="00A9B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4448556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42976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Devnet-грант или support от организаторов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508760" y="462686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аудит-лога и калибровочной петли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822960" y="6080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Karim  ·  karimabrahmanov09@gmail.com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Anemia Scan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2026-08-25T14:19:50Z</dcterms:created>
  <dcterms:modified xsi:type="dcterms:W3CDTF">2026-08-25T14:19:50Z</dcterms:modified>
</cp:coreProperties>
</file>